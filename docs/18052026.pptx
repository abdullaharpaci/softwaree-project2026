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Barlow Bold" panose="020B0604020202020204" charset="-94"/>
      <p:regular r:id="rId12"/>
    </p:embeddedFont>
    <p:embeddedFont>
      <p:font typeface="Barlow Medium" panose="00000600000000000000" pitchFamily="2" charset="-94"/>
      <p:regular r:id="rId13"/>
    </p:embeddedFont>
    <p:embeddedFont>
      <p:font typeface="ITC Franklin Gothic LT" panose="020B0604020202020204" charset="-94"/>
      <p:regular r:id="rId14"/>
    </p:embeddedFont>
    <p:embeddedFont>
      <p:font typeface="Nunito Sans Condensed" panose="020B0604020202020204" charset="-94"/>
      <p:regular r:id="rId15"/>
    </p:embeddedFont>
    <p:embeddedFont>
      <p:font typeface="Nunito Sans Condensed Bold" panose="020B0604020202020204" charset="-94"/>
      <p:regular r:id="rId16"/>
    </p:embeddedFont>
    <p:embeddedFont>
      <p:font typeface="Nunito Sans Condensed Bold Italics" panose="020B0604020202020204" charset="-9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176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932570" y="6508245"/>
            <a:ext cx="3305158" cy="668685"/>
            <a:chOff x="0" y="0"/>
            <a:chExt cx="870494" cy="1761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70494" cy="176115"/>
            </a:xfrm>
            <a:custGeom>
              <a:avLst/>
              <a:gdLst/>
              <a:ahLst/>
              <a:cxnLst/>
              <a:rect l="l" t="t" r="r" b="b"/>
              <a:pathLst>
                <a:path w="870494" h="176115">
                  <a:moveTo>
                    <a:pt x="0" y="0"/>
                  </a:moveTo>
                  <a:lnTo>
                    <a:pt x="870494" y="0"/>
                  </a:lnTo>
                  <a:lnTo>
                    <a:pt x="870494" y="176115"/>
                  </a:lnTo>
                  <a:lnTo>
                    <a:pt x="0" y="176115"/>
                  </a:lnTo>
                  <a:close/>
                </a:path>
              </a:pathLst>
            </a:custGeom>
            <a:solidFill>
              <a:srgbClr val="87736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70494" cy="1951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8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2686" y="253267"/>
            <a:ext cx="18281245" cy="9780466"/>
          </a:xfrm>
          <a:custGeom>
            <a:avLst/>
            <a:gdLst/>
            <a:ahLst/>
            <a:cxnLst/>
            <a:rect l="l" t="t" r="r" b="b"/>
            <a:pathLst>
              <a:path w="18281245" h="9780466">
                <a:moveTo>
                  <a:pt x="0" y="0"/>
                </a:moveTo>
                <a:lnTo>
                  <a:pt x="18281244" y="0"/>
                </a:lnTo>
                <a:lnTo>
                  <a:pt x="18281244" y="9780466"/>
                </a:lnTo>
                <a:lnTo>
                  <a:pt x="0" y="9780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0" y="2541950"/>
            <a:ext cx="5878932" cy="463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88"/>
              </a:lnSpc>
            </a:pPr>
            <a:r>
              <a:rPr lang="en-US" sz="8848" b="1" spc="831">
                <a:solidFill>
                  <a:srgbClr val="5E17EB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Banka </a:t>
            </a:r>
          </a:p>
          <a:p>
            <a:pPr algn="ctr">
              <a:lnSpc>
                <a:spcPts val="12388"/>
              </a:lnSpc>
              <a:spcBef>
                <a:spcPct val="0"/>
              </a:spcBef>
            </a:pPr>
            <a:r>
              <a:rPr lang="en-US" sz="8848" b="1" spc="831">
                <a:solidFill>
                  <a:srgbClr val="5E17EB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Yönetim Sistemi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0" y="653381"/>
            <a:ext cx="18483631" cy="8980239"/>
          </a:xfrm>
          <a:custGeom>
            <a:avLst/>
            <a:gdLst/>
            <a:ahLst/>
            <a:cxnLst/>
            <a:rect l="l" t="t" r="r" b="b"/>
            <a:pathLst>
              <a:path w="18483631" h="8980239">
                <a:moveTo>
                  <a:pt x="0" y="0"/>
                </a:moveTo>
                <a:lnTo>
                  <a:pt x="18483631" y="0"/>
                </a:lnTo>
                <a:lnTo>
                  <a:pt x="18483631" y="8980238"/>
                </a:lnTo>
                <a:lnTo>
                  <a:pt x="0" y="898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63" b="-291"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34269"/>
          </a:xfrm>
          <a:custGeom>
            <a:avLst/>
            <a:gdLst/>
            <a:ahLst/>
            <a:cxnLst/>
            <a:rect l="l" t="t" r="r" b="b"/>
            <a:pathLst>
              <a:path w="18288000" h="10234269">
                <a:moveTo>
                  <a:pt x="0" y="0"/>
                </a:moveTo>
                <a:lnTo>
                  <a:pt x="18288000" y="0"/>
                </a:lnTo>
                <a:lnTo>
                  <a:pt x="18288000" y="10234269"/>
                </a:lnTo>
                <a:lnTo>
                  <a:pt x="0" y="10234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7" b="-25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909290" y="5117135"/>
            <a:ext cx="3954376" cy="3705933"/>
          </a:xfrm>
          <a:custGeom>
            <a:avLst/>
            <a:gdLst/>
            <a:ahLst/>
            <a:cxnLst/>
            <a:rect l="l" t="t" r="r" b="b"/>
            <a:pathLst>
              <a:path w="3954376" h="3705933">
                <a:moveTo>
                  <a:pt x="0" y="0"/>
                </a:moveTo>
                <a:lnTo>
                  <a:pt x="3954376" y="0"/>
                </a:lnTo>
                <a:lnTo>
                  <a:pt x="3954376" y="3705933"/>
                </a:lnTo>
                <a:lnTo>
                  <a:pt x="0" y="370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7210908" y="5117135"/>
            <a:ext cx="3954376" cy="3705933"/>
          </a:xfrm>
          <a:custGeom>
            <a:avLst/>
            <a:gdLst/>
            <a:ahLst/>
            <a:cxnLst/>
            <a:rect l="l" t="t" r="r" b="b"/>
            <a:pathLst>
              <a:path w="3954376" h="3705933">
                <a:moveTo>
                  <a:pt x="0" y="0"/>
                </a:moveTo>
                <a:lnTo>
                  <a:pt x="3954376" y="0"/>
                </a:lnTo>
                <a:lnTo>
                  <a:pt x="3954376" y="3705933"/>
                </a:lnTo>
                <a:lnTo>
                  <a:pt x="0" y="370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2667829" y="5143500"/>
            <a:ext cx="3954376" cy="3705933"/>
          </a:xfrm>
          <a:custGeom>
            <a:avLst/>
            <a:gdLst/>
            <a:ahLst/>
            <a:cxnLst/>
            <a:rect l="l" t="t" r="r" b="b"/>
            <a:pathLst>
              <a:path w="3954376" h="3705933">
                <a:moveTo>
                  <a:pt x="0" y="0"/>
                </a:moveTo>
                <a:lnTo>
                  <a:pt x="3954376" y="0"/>
                </a:lnTo>
                <a:lnTo>
                  <a:pt x="3954376" y="3705933"/>
                </a:lnTo>
                <a:lnTo>
                  <a:pt x="0" y="3705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2085183" y="5431248"/>
            <a:ext cx="803734" cy="516247"/>
          </a:xfrm>
          <a:custGeom>
            <a:avLst/>
            <a:gdLst/>
            <a:ahLst/>
            <a:cxnLst/>
            <a:rect l="l" t="t" r="r" b="b"/>
            <a:pathLst>
              <a:path w="803734" h="516247">
                <a:moveTo>
                  <a:pt x="0" y="0"/>
                </a:moveTo>
                <a:lnTo>
                  <a:pt x="803734" y="0"/>
                </a:lnTo>
                <a:lnTo>
                  <a:pt x="803734" y="516247"/>
                </a:lnTo>
                <a:lnTo>
                  <a:pt x="0" y="516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873" b="-12873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Freeform 7"/>
          <p:cNvSpPr/>
          <p:nvPr/>
        </p:nvSpPr>
        <p:spPr>
          <a:xfrm>
            <a:off x="2085183" y="6049927"/>
            <a:ext cx="5125726" cy="462426"/>
          </a:xfrm>
          <a:custGeom>
            <a:avLst/>
            <a:gdLst/>
            <a:ahLst/>
            <a:cxnLst/>
            <a:rect l="l" t="t" r="r" b="b"/>
            <a:pathLst>
              <a:path w="5125726" h="462426">
                <a:moveTo>
                  <a:pt x="0" y="0"/>
                </a:moveTo>
                <a:lnTo>
                  <a:pt x="5125725" y="0"/>
                </a:lnTo>
                <a:lnTo>
                  <a:pt x="5125725" y="462426"/>
                </a:lnTo>
                <a:lnTo>
                  <a:pt x="0" y="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5953" b="-15953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>
            <a:off x="7458669" y="5308088"/>
            <a:ext cx="639407" cy="639407"/>
          </a:xfrm>
          <a:custGeom>
            <a:avLst/>
            <a:gdLst/>
            <a:ahLst/>
            <a:cxnLst/>
            <a:rect l="l" t="t" r="r" b="b"/>
            <a:pathLst>
              <a:path w="639407" h="639407">
                <a:moveTo>
                  <a:pt x="0" y="0"/>
                </a:moveTo>
                <a:lnTo>
                  <a:pt x="639408" y="0"/>
                </a:lnTo>
                <a:lnTo>
                  <a:pt x="639408" y="639407"/>
                </a:lnTo>
                <a:lnTo>
                  <a:pt x="0" y="639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>
            <a:off x="7287753" y="5947495"/>
            <a:ext cx="1900343" cy="462426"/>
          </a:xfrm>
          <a:custGeom>
            <a:avLst/>
            <a:gdLst/>
            <a:ahLst/>
            <a:cxnLst/>
            <a:rect l="l" t="t" r="r" b="b"/>
            <a:pathLst>
              <a:path w="1900343" h="462426">
                <a:moveTo>
                  <a:pt x="0" y="0"/>
                </a:moveTo>
                <a:lnTo>
                  <a:pt x="1900343" y="0"/>
                </a:lnTo>
                <a:lnTo>
                  <a:pt x="1900343" y="462426"/>
                </a:lnTo>
                <a:lnTo>
                  <a:pt x="0" y="4624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0" r="-151924" b="-23111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>
            <a:off x="12827941" y="5263210"/>
            <a:ext cx="468789" cy="536976"/>
          </a:xfrm>
          <a:custGeom>
            <a:avLst/>
            <a:gdLst/>
            <a:ahLst/>
            <a:cxnLst/>
            <a:rect l="l" t="t" r="r" b="b"/>
            <a:pathLst>
              <a:path w="468789" h="536976">
                <a:moveTo>
                  <a:pt x="0" y="0"/>
                </a:moveTo>
                <a:lnTo>
                  <a:pt x="468789" y="0"/>
                </a:lnTo>
                <a:lnTo>
                  <a:pt x="468789" y="536976"/>
                </a:lnTo>
                <a:lnTo>
                  <a:pt x="0" y="536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>
          <a:xfrm>
            <a:off x="12727384" y="5917974"/>
            <a:ext cx="4410003" cy="476591"/>
          </a:xfrm>
          <a:custGeom>
            <a:avLst/>
            <a:gdLst/>
            <a:ahLst/>
            <a:cxnLst/>
            <a:rect l="l" t="t" r="r" b="b"/>
            <a:pathLst>
              <a:path w="4410003" h="476591">
                <a:moveTo>
                  <a:pt x="0" y="0"/>
                </a:moveTo>
                <a:lnTo>
                  <a:pt x="4410004" y="0"/>
                </a:lnTo>
                <a:lnTo>
                  <a:pt x="4410004" y="476591"/>
                </a:lnTo>
                <a:lnTo>
                  <a:pt x="0" y="4765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5057" b="-5057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TextBox 12"/>
          <p:cNvSpPr txBox="1"/>
          <p:nvPr/>
        </p:nvSpPr>
        <p:spPr>
          <a:xfrm>
            <a:off x="684657" y="1693474"/>
            <a:ext cx="9673559" cy="92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3"/>
              </a:lnSpc>
              <a:spcBef>
                <a:spcPct val="0"/>
              </a:spcBef>
            </a:pPr>
            <a:r>
              <a:rPr lang="en-US" sz="5473" b="1" spc="514">
                <a:solidFill>
                  <a:srgbClr val="005189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Mimari ve Teknoloji Seçimi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16485" y="6570916"/>
            <a:ext cx="3539986" cy="189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1"/>
              </a:lnSpc>
              <a:spcBef>
                <a:spcPct val="0"/>
              </a:spcBef>
            </a:pPr>
            <a:r>
              <a:rPr lang="en-US" sz="2151" spc="202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Finansal hesaplamalarda yüksek performans ve bellek yönetimi için endüstri standardı olan C++ dili tercih edilmiştir.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0469" y="6417838"/>
            <a:ext cx="3330557" cy="221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3"/>
              </a:lnSpc>
              <a:spcBef>
                <a:spcPct val="0"/>
              </a:spcBef>
            </a:pPr>
            <a:r>
              <a:rPr lang="en-US" sz="2109" spc="198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Modern GUI (Grafiksel Arayüz) tasarımı ve Signal/Slot mekanizması ile dinamik etkileşimler için Qt Framework kullanılmıştır.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27941" y="6474253"/>
            <a:ext cx="3634152" cy="184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1"/>
              </a:lnSpc>
              <a:spcBef>
                <a:spcPct val="0"/>
              </a:spcBef>
            </a:pPr>
            <a:r>
              <a:rPr lang="en-US" sz="2115" spc="198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Server-side kurulum gerektirmeyen, ACID uyumlu ve gömülü SQLite mimarisi ile veri bütünlüğü sağlanmıştır.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193235" y="3544805"/>
            <a:ext cx="3086100" cy="4632849"/>
            <a:chOff x="0" y="0"/>
            <a:chExt cx="812800" cy="12201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220174"/>
            </a:xfrm>
            <a:custGeom>
              <a:avLst/>
              <a:gdLst/>
              <a:ahLst/>
              <a:cxnLst/>
              <a:rect l="l" t="t" r="r" b="b"/>
              <a:pathLst>
                <a:path w="812800" h="1220174">
                  <a:moveTo>
                    <a:pt x="0" y="0"/>
                  </a:moveTo>
                  <a:lnTo>
                    <a:pt x="812800" y="0"/>
                  </a:lnTo>
                  <a:lnTo>
                    <a:pt x="812800" y="1220174"/>
                  </a:lnTo>
                  <a:lnTo>
                    <a:pt x="0" y="1220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26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52578" y="3968982"/>
            <a:ext cx="967414" cy="944380"/>
          </a:xfrm>
          <a:custGeom>
            <a:avLst/>
            <a:gdLst/>
            <a:ahLst/>
            <a:cxnLst/>
            <a:rect l="l" t="t" r="r" b="b"/>
            <a:pathLst>
              <a:path w="967414" h="944380">
                <a:moveTo>
                  <a:pt x="0" y="0"/>
                </a:moveTo>
                <a:lnTo>
                  <a:pt x="967414" y="0"/>
                </a:lnTo>
                <a:lnTo>
                  <a:pt x="967414" y="944380"/>
                </a:lnTo>
                <a:lnTo>
                  <a:pt x="0" y="94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7" name="Group 7"/>
          <p:cNvGrpSpPr/>
          <p:nvPr/>
        </p:nvGrpSpPr>
        <p:grpSpPr>
          <a:xfrm>
            <a:off x="9927078" y="3544805"/>
            <a:ext cx="3086100" cy="4632849"/>
            <a:chOff x="0" y="0"/>
            <a:chExt cx="812800" cy="12201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220174"/>
            </a:xfrm>
            <a:custGeom>
              <a:avLst/>
              <a:gdLst/>
              <a:ahLst/>
              <a:cxnLst/>
              <a:rect l="l" t="t" r="r" b="b"/>
              <a:pathLst>
                <a:path w="812800" h="1220174">
                  <a:moveTo>
                    <a:pt x="0" y="0"/>
                  </a:moveTo>
                  <a:lnTo>
                    <a:pt x="812800" y="0"/>
                  </a:lnTo>
                  <a:lnTo>
                    <a:pt x="812800" y="1220174"/>
                  </a:lnTo>
                  <a:lnTo>
                    <a:pt x="0" y="1220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126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109889" y="4227928"/>
            <a:ext cx="785741" cy="685433"/>
          </a:xfrm>
          <a:custGeom>
            <a:avLst/>
            <a:gdLst/>
            <a:ahLst/>
            <a:cxnLst/>
            <a:rect l="l" t="t" r="r" b="b"/>
            <a:pathLst>
              <a:path w="785741" h="685433">
                <a:moveTo>
                  <a:pt x="0" y="0"/>
                </a:moveTo>
                <a:lnTo>
                  <a:pt x="785741" y="0"/>
                </a:lnTo>
                <a:lnTo>
                  <a:pt x="785741" y="685434"/>
                </a:lnTo>
                <a:lnTo>
                  <a:pt x="0" y="685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1" name="Group 11"/>
          <p:cNvGrpSpPr/>
          <p:nvPr/>
        </p:nvGrpSpPr>
        <p:grpSpPr>
          <a:xfrm>
            <a:off x="14630328" y="3469887"/>
            <a:ext cx="3086100" cy="4632849"/>
            <a:chOff x="0" y="0"/>
            <a:chExt cx="812800" cy="12201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220174"/>
            </a:xfrm>
            <a:custGeom>
              <a:avLst/>
              <a:gdLst/>
              <a:ahLst/>
              <a:cxnLst/>
              <a:rect l="l" t="t" r="r" b="b"/>
              <a:pathLst>
                <a:path w="812800" h="1220174">
                  <a:moveTo>
                    <a:pt x="0" y="0"/>
                  </a:moveTo>
                  <a:lnTo>
                    <a:pt x="812800" y="0"/>
                  </a:lnTo>
                  <a:lnTo>
                    <a:pt x="812800" y="1220174"/>
                  </a:lnTo>
                  <a:lnTo>
                    <a:pt x="0" y="1220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126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854250" y="4208910"/>
            <a:ext cx="638257" cy="934590"/>
          </a:xfrm>
          <a:custGeom>
            <a:avLst/>
            <a:gdLst/>
            <a:ahLst/>
            <a:cxnLst/>
            <a:rect l="l" t="t" r="r" b="b"/>
            <a:pathLst>
              <a:path w="638257" h="934590">
                <a:moveTo>
                  <a:pt x="0" y="0"/>
                </a:moveTo>
                <a:lnTo>
                  <a:pt x="638256" y="0"/>
                </a:lnTo>
                <a:lnTo>
                  <a:pt x="638256" y="934590"/>
                </a:lnTo>
                <a:lnTo>
                  <a:pt x="0" y="934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15" name="Group 15"/>
          <p:cNvGrpSpPr/>
          <p:nvPr/>
        </p:nvGrpSpPr>
        <p:grpSpPr>
          <a:xfrm>
            <a:off x="5623489" y="3544805"/>
            <a:ext cx="3086100" cy="4632849"/>
            <a:chOff x="0" y="0"/>
            <a:chExt cx="812800" cy="122017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220174"/>
            </a:xfrm>
            <a:custGeom>
              <a:avLst/>
              <a:gdLst/>
              <a:ahLst/>
              <a:cxnLst/>
              <a:rect l="l" t="t" r="r" b="b"/>
              <a:pathLst>
                <a:path w="812800" h="1220174">
                  <a:moveTo>
                    <a:pt x="0" y="0"/>
                  </a:moveTo>
                  <a:lnTo>
                    <a:pt x="812800" y="0"/>
                  </a:lnTo>
                  <a:lnTo>
                    <a:pt x="812800" y="1220174"/>
                  </a:lnTo>
                  <a:lnTo>
                    <a:pt x="0" y="12201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2800" cy="126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63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595522" y="3982188"/>
            <a:ext cx="1067443" cy="931174"/>
          </a:xfrm>
          <a:custGeom>
            <a:avLst/>
            <a:gdLst/>
            <a:ahLst/>
            <a:cxnLst/>
            <a:rect l="l" t="t" r="r" b="b"/>
            <a:pathLst>
              <a:path w="1067443" h="931174">
                <a:moveTo>
                  <a:pt x="0" y="0"/>
                </a:moveTo>
                <a:lnTo>
                  <a:pt x="1067444" y="0"/>
                </a:lnTo>
                <a:lnTo>
                  <a:pt x="1067444" y="931174"/>
                </a:lnTo>
                <a:lnTo>
                  <a:pt x="0" y="931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9" name="TextBox 19"/>
          <p:cNvSpPr txBox="1"/>
          <p:nvPr/>
        </p:nvSpPr>
        <p:spPr>
          <a:xfrm>
            <a:off x="904891" y="1323524"/>
            <a:ext cx="9333598" cy="1402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3"/>
              </a:lnSpc>
              <a:spcBef>
                <a:spcPct val="0"/>
              </a:spcBef>
            </a:pPr>
            <a:r>
              <a:rPr lang="en-US" sz="4874" b="1" spc="458">
                <a:solidFill>
                  <a:srgbClr val="005088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4 Katmanlı Yazılım Mimarisi</a:t>
            </a:r>
          </a:p>
          <a:p>
            <a:pPr algn="ctr">
              <a:lnSpc>
                <a:spcPts val="4443"/>
              </a:lnSpc>
              <a:spcBef>
                <a:spcPct val="0"/>
              </a:spcBef>
            </a:pPr>
            <a:endParaRPr lang="en-US" sz="4874" b="1" spc="458">
              <a:solidFill>
                <a:srgbClr val="005088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22071" y="5813604"/>
            <a:ext cx="2828428" cy="173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sz="2474" spc="232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Sunum Katmanı: Kullanıcı ile etkileşim kuran Qt arayüzleri.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39276" y="5699285"/>
            <a:ext cx="3170312" cy="217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sz="2474" spc="232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Servis Katmanı: İş mantığı ve kurallarının (Bakiye kontrolü vb.) işletildiği merkez.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03568" y="5375514"/>
            <a:ext cx="2798384" cy="2613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sz="2474" spc="232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Veri Erişim Katmanı: SQL operasyonlarını soyutlayan Singleton yöneticisi.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30328" y="6032650"/>
            <a:ext cx="3133365" cy="1299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sz="2474" spc="232">
                <a:solidFill>
                  <a:srgbClr val="FFFFFF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Veri Katmanı: Fiziksel SQLite veritabanı dosyası.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33074" cy="10287000"/>
          </a:xfrm>
          <a:custGeom>
            <a:avLst/>
            <a:gdLst/>
            <a:ahLst/>
            <a:cxnLst/>
            <a:rect l="l" t="t" r="r" b="b"/>
            <a:pathLst>
              <a:path w="18533074" h="10287000">
                <a:moveTo>
                  <a:pt x="0" y="0"/>
                </a:moveTo>
                <a:lnTo>
                  <a:pt x="18533074" y="0"/>
                </a:lnTo>
                <a:lnTo>
                  <a:pt x="1853307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63"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2058065" y="2030500"/>
            <a:ext cx="3267701" cy="4400331"/>
          </a:xfrm>
          <a:custGeom>
            <a:avLst/>
            <a:gdLst/>
            <a:ahLst/>
            <a:cxnLst/>
            <a:rect l="l" t="t" r="r" b="b"/>
            <a:pathLst>
              <a:path w="3267701" h="4400331">
                <a:moveTo>
                  <a:pt x="0" y="0"/>
                </a:moveTo>
                <a:lnTo>
                  <a:pt x="3267701" y="0"/>
                </a:lnTo>
                <a:lnTo>
                  <a:pt x="3267701" y="4400331"/>
                </a:lnTo>
                <a:lnTo>
                  <a:pt x="0" y="4400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>
            <a:off x="6476680" y="3478089"/>
            <a:ext cx="5334640" cy="2747340"/>
          </a:xfrm>
          <a:custGeom>
            <a:avLst/>
            <a:gdLst/>
            <a:ahLst/>
            <a:cxnLst/>
            <a:rect l="l" t="t" r="r" b="b"/>
            <a:pathLst>
              <a:path w="5334640" h="2747340">
                <a:moveTo>
                  <a:pt x="0" y="0"/>
                </a:moveTo>
                <a:lnTo>
                  <a:pt x="5334640" y="0"/>
                </a:lnTo>
                <a:lnTo>
                  <a:pt x="5334640" y="2747339"/>
                </a:lnTo>
                <a:lnTo>
                  <a:pt x="0" y="2747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>
            <a:off x="12350431" y="3478089"/>
            <a:ext cx="5296076" cy="2747340"/>
          </a:xfrm>
          <a:custGeom>
            <a:avLst/>
            <a:gdLst/>
            <a:ahLst/>
            <a:cxnLst/>
            <a:rect l="l" t="t" r="r" b="b"/>
            <a:pathLst>
              <a:path w="5296076" h="2747340">
                <a:moveTo>
                  <a:pt x="0" y="0"/>
                </a:moveTo>
                <a:lnTo>
                  <a:pt x="5296076" y="0"/>
                </a:lnTo>
                <a:lnTo>
                  <a:pt x="5296076" y="2747339"/>
                </a:lnTo>
                <a:lnTo>
                  <a:pt x="0" y="27473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4023362" y="933450"/>
            <a:ext cx="10286683" cy="910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43"/>
              </a:lnSpc>
            </a:pPr>
            <a:r>
              <a:rPr lang="en-US" sz="5387" b="1">
                <a:solidFill>
                  <a:srgbClr val="005189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Sistem Demosu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4962" y="6578945"/>
            <a:ext cx="4613906" cy="37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0"/>
              </a:lnSpc>
            </a:pPr>
            <a:r>
              <a:rPr lang="en-US" sz="2207" b="1">
                <a:solidFill>
                  <a:srgbClr val="005189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Login Ekranı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7047" y="6578945"/>
            <a:ext cx="4613906" cy="37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0"/>
              </a:lnSpc>
            </a:pPr>
            <a:r>
              <a:rPr lang="en-US" sz="2207" b="1" spc="26">
                <a:solidFill>
                  <a:srgbClr val="005189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Admin Ve Müşteri 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64196" y="6578945"/>
            <a:ext cx="4613906" cy="372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90"/>
              </a:lnSpc>
            </a:pPr>
            <a:r>
              <a:rPr lang="en-US" sz="2207" b="1">
                <a:solidFill>
                  <a:srgbClr val="005189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Admin İşlemleri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7501821" y="2299576"/>
            <a:ext cx="3284359" cy="4114800"/>
          </a:xfrm>
          <a:custGeom>
            <a:avLst/>
            <a:gdLst/>
            <a:ahLst/>
            <a:cxnLst/>
            <a:rect l="l" t="t" r="r" b="b"/>
            <a:pathLst>
              <a:path w="3284359" h="4114800">
                <a:moveTo>
                  <a:pt x="0" y="0"/>
                </a:moveTo>
                <a:lnTo>
                  <a:pt x="3284358" y="0"/>
                </a:lnTo>
                <a:lnTo>
                  <a:pt x="3284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2407657" y="904875"/>
            <a:ext cx="13472687" cy="109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3"/>
              </a:lnSpc>
            </a:pPr>
            <a:r>
              <a:rPr lang="en-US" sz="6395" b="1">
                <a:solidFill>
                  <a:srgbClr val="87736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KARŞILAŞILAN ZORLUKLAR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3484" y="4318876"/>
            <a:ext cx="506581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Başlangıç aşamasında, geliştirilen farklı C++ sınıflarının birbiriyle uyumlu çalışmasını sağlamak ekstra efor istedi.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3484" y="3571654"/>
            <a:ext cx="487456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i="1">
                <a:solidFill>
                  <a:srgbClr val="443469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Haberleşme Sorunları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67885" y="7757606"/>
            <a:ext cx="695223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Arayüz (UI) kısmında yanlış yüklenen dosya formatları ve ekip üyeleri arasında değişen kodlama tarzları uyumsuzluk oluşturdu.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23980" y="4441198"/>
            <a:ext cx="5041983" cy="165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399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Backend sınıfları yapılırken; yanlış sınıf isimleri ve hatalı dosya yolları kullanılması gibi durumlar derleme hatalarına yol açtı.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68291" y="6952630"/>
            <a:ext cx="5106456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3199" b="1" i="1">
                <a:solidFill>
                  <a:srgbClr val="443469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Format ve Tarz Farklılıkları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571654"/>
            <a:ext cx="5826289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3199" b="1" i="1">
                <a:solidFill>
                  <a:srgbClr val="443469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Sınıf Uyumsuzlukları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1067246" y="5143500"/>
            <a:ext cx="3359173" cy="4114800"/>
          </a:xfrm>
          <a:custGeom>
            <a:avLst/>
            <a:gdLst/>
            <a:ahLst/>
            <a:cxnLst/>
            <a:rect l="l" t="t" r="r" b="b"/>
            <a:pathLst>
              <a:path w="3359173" h="4114800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3120872" y="1690370"/>
            <a:ext cx="2611094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Kod çakışması olmasın diye her özellik için ayrı Branch açıldı. Pull Request'leri tam incelemeden asla mergelemedik.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94625" y="4063509"/>
            <a:ext cx="2611094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Kodlamaya geçmeden önce hazırladığımız raporlara ve UML diyagramlarına olabildiğince sadık kalmaya çalıştık.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84983" y="5603934"/>
            <a:ext cx="2611094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WhatsApp grubu üzerinden anlık iletişim kurduk; teknik tıkanıklıklarda farklı Yapay Zeka araçlarından destek aldık.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19653" y="5603934"/>
            <a:ext cx="2611094" cy="291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005189"/>
                </a:solidFill>
                <a:latin typeface="Nunito Sans Condensed"/>
                <a:ea typeface="Nunito Sans Condensed"/>
                <a:cs typeface="Nunito Sans Condensed"/>
                <a:sym typeface="Nunito Sans Condensed"/>
              </a:rPr>
              <a:t>Sınıfların içine yazdığımız yorum satırı notlarıyla, eksik kalan veya devredilecek işlerin takibini doğrudan kod üzerinden yaptık.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3185" y="971550"/>
            <a:ext cx="338646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i="1">
                <a:solidFill>
                  <a:srgbClr val="428DFF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Git Disiplini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41043" y="2757805"/>
            <a:ext cx="2718257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i="1">
                <a:solidFill>
                  <a:srgbClr val="428DFF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Planlamaya Sadakat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97296" y="4389573"/>
            <a:ext cx="3386468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i="1">
                <a:solidFill>
                  <a:srgbClr val="428DFF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İstişare ve Yapay Zeka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31966" y="4880842"/>
            <a:ext cx="338646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</a:pPr>
            <a:r>
              <a:rPr lang="en-US" sz="3200" b="1" i="1">
                <a:solidFill>
                  <a:srgbClr val="428DFF"/>
                </a:solidFill>
                <a:latin typeface="Nunito Sans Condensed Bold Italics"/>
                <a:ea typeface="Nunito Sans Condensed Bold Italics"/>
                <a:cs typeface="Nunito Sans Condensed Bold Italics"/>
                <a:sym typeface="Nunito Sans Condensed Bold Italics"/>
              </a:rPr>
              <a:t>TODO ile İş Takibi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05506" y="1535883"/>
            <a:ext cx="4513247" cy="1011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38"/>
              </a:lnSpc>
            </a:pPr>
            <a:r>
              <a:rPr lang="en-US" sz="6399" b="1" spc="601">
                <a:solidFill>
                  <a:srgbClr val="877360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ÇÖZÜMLER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" r="-44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1028700" y="46114"/>
            <a:ext cx="11119730" cy="4830013"/>
            <a:chOff x="0" y="0"/>
            <a:chExt cx="2928653" cy="12721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28653" cy="1272102"/>
            </a:xfrm>
            <a:custGeom>
              <a:avLst/>
              <a:gdLst/>
              <a:ahLst/>
              <a:cxnLst/>
              <a:rect l="l" t="t" r="r" b="b"/>
              <a:pathLst>
                <a:path w="2928653" h="1272102">
                  <a:moveTo>
                    <a:pt x="0" y="0"/>
                  </a:moveTo>
                  <a:lnTo>
                    <a:pt x="2928653" y="0"/>
                  </a:lnTo>
                  <a:lnTo>
                    <a:pt x="2928653" y="1272102"/>
                  </a:lnTo>
                  <a:lnTo>
                    <a:pt x="0" y="1272102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928653" cy="1319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34275" y="678574"/>
            <a:ext cx="7285150" cy="647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72"/>
              </a:lnSpc>
            </a:pPr>
            <a:r>
              <a:rPr lang="en-US" sz="3765" b="1">
                <a:solidFill>
                  <a:srgbClr val="E5DDFF"/>
                </a:solidFill>
                <a:latin typeface="Barlow Bold"/>
                <a:ea typeface="Barlow Bold"/>
                <a:cs typeface="Barlow Bold"/>
                <a:sym typeface="Barlow Bold"/>
              </a:rPr>
              <a:t>SONUÇ VE GELECEK ÇALIŞMALAR</a:t>
            </a:r>
          </a:p>
        </p:txBody>
      </p:sp>
      <p:sp>
        <p:nvSpPr>
          <p:cNvPr id="7" name="AutoShape 7"/>
          <p:cNvSpPr/>
          <p:nvPr/>
        </p:nvSpPr>
        <p:spPr>
          <a:xfrm rot="-5400000">
            <a:off x="-288434" y="1640599"/>
            <a:ext cx="3246120" cy="0"/>
          </a:xfrm>
          <a:prstGeom prst="line">
            <a:avLst/>
          </a:prstGeom>
          <a:ln w="57150" cap="flat">
            <a:solidFill>
              <a:srgbClr val="E5DD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8" name="AutoShape 8"/>
          <p:cNvSpPr/>
          <p:nvPr/>
        </p:nvSpPr>
        <p:spPr>
          <a:xfrm rot="-5400000">
            <a:off x="16725900" y="495300"/>
            <a:ext cx="1028700" cy="0"/>
          </a:xfrm>
          <a:prstGeom prst="line">
            <a:avLst/>
          </a:prstGeom>
          <a:ln w="38100" cap="flat">
            <a:solidFill>
              <a:srgbClr val="7576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grpSp>
        <p:nvGrpSpPr>
          <p:cNvPr id="9" name="Group 9"/>
          <p:cNvGrpSpPr/>
          <p:nvPr/>
        </p:nvGrpSpPr>
        <p:grpSpPr>
          <a:xfrm>
            <a:off x="9144000" y="2461121"/>
            <a:ext cx="7103841" cy="6784158"/>
            <a:chOff x="0" y="0"/>
            <a:chExt cx="1870970" cy="1786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70970" cy="1786774"/>
            </a:xfrm>
            <a:custGeom>
              <a:avLst/>
              <a:gdLst/>
              <a:ahLst/>
              <a:cxnLst/>
              <a:rect l="l" t="t" r="r" b="b"/>
              <a:pathLst>
                <a:path w="1870970" h="1786774">
                  <a:moveTo>
                    <a:pt x="0" y="0"/>
                  </a:moveTo>
                  <a:lnTo>
                    <a:pt x="1870970" y="0"/>
                  </a:lnTo>
                  <a:lnTo>
                    <a:pt x="1870970" y="1786774"/>
                  </a:lnTo>
                  <a:lnTo>
                    <a:pt x="0" y="1786774"/>
                  </a:lnTo>
                  <a:close/>
                </a:path>
              </a:pathLst>
            </a:custGeom>
            <a:solidFill>
              <a:srgbClr val="E5DDFF"/>
            </a:solidFill>
            <a:ln w="76200" cap="sq">
              <a:solidFill>
                <a:srgbClr val="4546CF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870970" cy="1834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5002" y="2474142"/>
            <a:ext cx="7103841" cy="6784158"/>
            <a:chOff x="0" y="0"/>
            <a:chExt cx="1870970" cy="17867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0970" cy="1786774"/>
            </a:xfrm>
            <a:custGeom>
              <a:avLst/>
              <a:gdLst/>
              <a:ahLst/>
              <a:cxnLst/>
              <a:rect l="l" t="t" r="r" b="b"/>
              <a:pathLst>
                <a:path w="1870970" h="1786774">
                  <a:moveTo>
                    <a:pt x="0" y="0"/>
                  </a:moveTo>
                  <a:lnTo>
                    <a:pt x="1870970" y="0"/>
                  </a:lnTo>
                  <a:lnTo>
                    <a:pt x="1870970" y="1786774"/>
                  </a:lnTo>
                  <a:lnTo>
                    <a:pt x="0" y="1786774"/>
                  </a:lnTo>
                  <a:close/>
                </a:path>
              </a:pathLst>
            </a:custGeom>
            <a:solidFill>
              <a:srgbClr val="E5DDFF"/>
            </a:solidFill>
            <a:ln w="76200" cap="sq">
              <a:solidFill>
                <a:srgbClr val="4546CF"/>
              </a:solidFill>
              <a:prstDash val="solid"/>
              <a:miter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870970" cy="18343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003957" y="5143500"/>
            <a:ext cx="172264" cy="17226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32912" y="4838028"/>
            <a:ext cx="4066856" cy="6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Gerçek şifre hash'leme (bcrypt gibi güvenli algoritma kullanılmadı)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003957" y="6413500"/>
            <a:ext cx="172264" cy="17226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32912" y="6108028"/>
            <a:ext cx="4066856" cy="6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Kredi modülü (veritabanı tasarlandı, arayüz yazılamadı)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003957" y="7683500"/>
            <a:ext cx="172264" cy="17226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332912" y="7378028"/>
            <a:ext cx="4066856" cy="31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Dekont PDF çıktısı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386266" y="5130479"/>
            <a:ext cx="172264" cy="17226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15221" y="4825006"/>
            <a:ext cx="4066856" cy="31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🤖 Yapay Zeka ile Kredi Skoru Tahmini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386266" y="6400479"/>
            <a:ext cx="172264" cy="172264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715221" y="6095006"/>
            <a:ext cx="4066856" cy="315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🔍 Yapay Zeka ile Dolandırıcılık Tespiti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86266" y="7670479"/>
            <a:ext cx="172264" cy="17226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546CF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3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715221" y="7365006"/>
            <a:ext cx="4066856" cy="6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6"/>
              </a:lnSpc>
            </a:pPr>
            <a:r>
              <a:rPr lang="en-US" sz="1840" b="1">
                <a:solidFill>
                  <a:srgbClr val="2C2DBD"/>
                </a:solidFill>
                <a:latin typeface="Barlow Medium"/>
                <a:ea typeface="Barlow Medium"/>
                <a:cs typeface="Barlow Medium"/>
                <a:sym typeface="Barlow Medium"/>
              </a:rPr>
              <a:t>🏦 Gerçek Bankacılık Entegrasyonu (SWIFT/IBAN)</a:t>
            </a:r>
          </a:p>
        </p:txBody>
      </p:sp>
      <p:sp>
        <p:nvSpPr>
          <p:cNvPr id="39" name="AutoShape 39"/>
          <p:cNvSpPr/>
          <p:nvPr/>
        </p:nvSpPr>
        <p:spPr>
          <a:xfrm>
            <a:off x="2441097" y="4101106"/>
            <a:ext cx="5571650" cy="0"/>
          </a:xfrm>
          <a:prstGeom prst="line">
            <a:avLst/>
          </a:prstGeom>
          <a:ln w="57150" cap="flat">
            <a:solidFill>
              <a:srgbClr val="2C2D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40" name="AutoShape 40"/>
          <p:cNvSpPr/>
          <p:nvPr/>
        </p:nvSpPr>
        <p:spPr>
          <a:xfrm>
            <a:off x="9910095" y="4101106"/>
            <a:ext cx="5571650" cy="0"/>
          </a:xfrm>
          <a:prstGeom prst="line">
            <a:avLst/>
          </a:prstGeom>
          <a:ln w="57150" cap="flat">
            <a:solidFill>
              <a:srgbClr val="2C2DB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Box 41"/>
          <p:cNvSpPr txBox="1"/>
          <p:nvPr/>
        </p:nvSpPr>
        <p:spPr>
          <a:xfrm>
            <a:off x="2330671" y="2929531"/>
            <a:ext cx="5792503" cy="6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60"/>
              </a:lnSpc>
            </a:pPr>
            <a:r>
              <a:rPr lang="en-US" sz="3828" b="1">
                <a:solidFill>
                  <a:srgbClr val="2C2DBD"/>
                </a:solidFill>
                <a:latin typeface="Barlow Bold"/>
                <a:ea typeface="Barlow Bold"/>
                <a:cs typeface="Barlow Bold"/>
                <a:sym typeface="Barlow Bold"/>
              </a:rPr>
              <a:t>Tamamlanamayan Kısımlar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786035" y="2929531"/>
            <a:ext cx="5819772" cy="65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60"/>
              </a:lnSpc>
            </a:pPr>
            <a:r>
              <a:rPr lang="en-US" sz="3828" b="1">
                <a:solidFill>
                  <a:srgbClr val="2C2DBD"/>
                </a:solidFill>
                <a:latin typeface="Barlow Bold"/>
                <a:ea typeface="Barlow Bold"/>
                <a:cs typeface="Barlow Bold"/>
                <a:sym typeface="Barlow Bold"/>
              </a:rPr>
              <a:t>Gelecek Çalışmalar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BD4B1">
                <a:alpha val="100000"/>
              </a:srgbClr>
            </a:gs>
            <a:gs pos="50000">
              <a:srgbClr val="FF4D00">
                <a:alpha val="100000"/>
              </a:srgbClr>
            </a:gs>
            <a:gs pos="100000">
              <a:srgbClr val="C0F8FF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902192" y="6918616"/>
            <a:ext cx="15262530" cy="3471326"/>
          </a:xfrm>
          <a:custGeom>
            <a:avLst/>
            <a:gdLst/>
            <a:ahLst/>
            <a:cxnLst/>
            <a:rect l="l" t="t" r="r" b="b"/>
            <a:pathLst>
              <a:path w="15262530" h="3471326">
                <a:moveTo>
                  <a:pt x="0" y="0"/>
                </a:moveTo>
                <a:lnTo>
                  <a:pt x="15262530" y="0"/>
                </a:lnTo>
                <a:lnTo>
                  <a:pt x="15262530" y="3471327"/>
                </a:lnTo>
                <a:lnTo>
                  <a:pt x="0" y="3471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234152"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3" name="Group 3"/>
          <p:cNvGrpSpPr/>
          <p:nvPr/>
        </p:nvGrpSpPr>
        <p:grpSpPr>
          <a:xfrm>
            <a:off x="3729073" y="2421385"/>
            <a:ext cx="10829854" cy="2649969"/>
            <a:chOff x="0" y="-95250"/>
            <a:chExt cx="14439805" cy="3533291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0"/>
              <a:ext cx="14439805" cy="21188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999"/>
                </a:lnSpc>
              </a:pPr>
              <a:r>
                <a:rPr lang="en-US" sz="9999" u="none" spc="-199">
                  <a:solidFill>
                    <a:srgbClr val="4546CF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TEŞEKKÜRLER!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9369" y="2887462"/>
              <a:ext cx="12621068" cy="5505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80"/>
                </a:lnSpc>
                <a:spcBef>
                  <a:spcPct val="0"/>
                </a:spcBef>
              </a:pPr>
              <a:r>
                <a:rPr lang="en-US" sz="2600" u="none" dirty="0" err="1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Sunum</a:t>
              </a:r>
              <a:r>
                <a:rPr lang="en-US" sz="2600" u="none" dirty="0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 </a:t>
              </a:r>
              <a:r>
                <a:rPr lang="en-US" sz="2600" u="none" dirty="0" err="1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bitti</a:t>
              </a:r>
              <a:r>
                <a:rPr lang="en-US" sz="2600" u="none" dirty="0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. </a:t>
              </a:r>
              <a:r>
                <a:rPr lang="en-US" sz="2600" u="none" dirty="0" err="1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Sorularınız</a:t>
              </a:r>
              <a:r>
                <a:rPr lang="en-US" sz="2600" u="none" dirty="0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 </a:t>
              </a:r>
              <a:r>
                <a:rPr lang="en-US" sz="2600" u="none" dirty="0" err="1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varsa</a:t>
              </a:r>
              <a:r>
                <a:rPr lang="en-US" sz="2600" u="none" dirty="0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 </a:t>
              </a:r>
              <a:r>
                <a:rPr lang="en-US" sz="2600" u="none" dirty="0" err="1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alabil</a:t>
              </a:r>
              <a:r>
                <a:rPr lang="tr-TR" sz="2600" u="none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iriz</a:t>
              </a:r>
              <a:r>
                <a:rPr lang="en-US" sz="2600" u="none">
                  <a:solidFill>
                    <a:srgbClr val="005189"/>
                  </a:solidFill>
                  <a:latin typeface="ITC Franklin Gothic LT"/>
                  <a:ea typeface="ITC Franklin Gothic LT"/>
                  <a:cs typeface="ITC Franklin Gothic LT"/>
                  <a:sym typeface="ITC Franklin Gothic LT"/>
                </a:rPr>
                <a:t>.</a:t>
              </a:r>
              <a:endParaRPr lang="en-US" sz="2600" u="none" dirty="0">
                <a:solidFill>
                  <a:srgbClr val="005189"/>
                </a:solidFill>
                <a:latin typeface="ITC Franklin Gothic LT"/>
                <a:ea typeface="ITC Franklin Gothic LT"/>
                <a:cs typeface="ITC Franklin Gothic LT"/>
                <a:sym typeface="ITC Franklin Gothic LT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6203886" y="6238238"/>
            <a:ext cx="13928912" cy="11320407"/>
          </a:xfrm>
          <a:custGeom>
            <a:avLst/>
            <a:gdLst/>
            <a:ahLst/>
            <a:cxnLst/>
            <a:rect l="l" t="t" r="r" b="b"/>
            <a:pathLst>
              <a:path w="13928912" h="11320407">
                <a:moveTo>
                  <a:pt x="0" y="0"/>
                </a:moveTo>
                <a:lnTo>
                  <a:pt x="13928912" y="0"/>
                </a:lnTo>
                <a:lnTo>
                  <a:pt x="13928912" y="11320407"/>
                </a:lnTo>
                <a:lnTo>
                  <a:pt x="0" y="113204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320</Words>
  <Application>Microsoft Office PowerPoint</Application>
  <PresentationFormat>Özel</PresentationFormat>
  <Paragraphs>42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9" baseType="lpstr">
      <vt:lpstr>Nunito Sans Condensed</vt:lpstr>
      <vt:lpstr>ITC Franklin Gothic LT</vt:lpstr>
      <vt:lpstr>Barlow Bold</vt:lpstr>
      <vt:lpstr>Nunito Sans Condensed Bold</vt:lpstr>
      <vt:lpstr>Calibri</vt:lpstr>
      <vt:lpstr>Nunito Sans Condensed Bold Italics</vt:lpstr>
      <vt:lpstr>Barlow Medium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Karşılaşılan Zorluklar</dc:title>
  <cp:lastModifiedBy>ABDULLAH ARPACI</cp:lastModifiedBy>
  <cp:revision>3</cp:revision>
  <dcterms:created xsi:type="dcterms:W3CDTF">2006-08-16T00:00:00Z</dcterms:created>
  <dcterms:modified xsi:type="dcterms:W3CDTF">2026-05-18T11:03:57Z</dcterms:modified>
  <dc:identifier>DAHJ0V6e83w</dc:identifier>
</cp:coreProperties>
</file>